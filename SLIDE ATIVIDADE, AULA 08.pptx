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9BEFF"/>
                </a:solidFill>
                <a:latin typeface="Aptos"/>
              </a:defRPr>
            </a:pPr>
            <a:r>
              <a:t>PROGRAMAÇÃO WEB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772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2F5F8"/>
                </a:solidFill>
                <a:latin typeface="Aptos"/>
              </a:defRPr>
            </a:pPr>
            <a:r>
              <a:t>Projeto</a:t>
            </a:r>
            <a:br/>
            <a:r>
              <a:t>Lista de Amigos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33756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A6B1BF"/>
                </a:solidFill>
                <a:latin typeface="Aptos"/>
              </a:defRPr>
            </a:pPr>
            <a:r>
              <a:t>CRUD • Login • Session • MySQL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4160520"/>
            <a:ext cx="2834640" cy="36576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43484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2F5F8"/>
                </a:solidFill>
                <a:latin typeface="Aptos"/>
              </a:defRPr>
            </a:pPr>
            <a:r>
              <a:t>Aula 08 — Apresentação do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89788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1BF"/>
                </a:solidFill>
                <a:latin typeface="Aptos"/>
              </a:defRPr>
            </a:pPr>
            <a:r>
              <a:t>Jonatha Banim das Neves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O que foi desenvolvido?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F2F5F8"/>
                </a:solidFill>
                <a:latin typeface="Aptos"/>
              </a:defRPr>
            </a:pPr>
            <a:r>
              <a:t>Uma aplicação web para cadastrar e administrar amigos, com persistência de dados e autenticação de usuários.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2514600" cy="196596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9BE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Cadastrar, listar, editar e excluir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743200"/>
            <a:ext cx="2514600" cy="196596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971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9B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4290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977639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Armazenamento dos dados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2514600" cy="196596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9BE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290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39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Identificação do usuário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743200"/>
            <a:ext cx="2514600" cy="196596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59" y="297180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9BE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3429000"/>
            <a:ext cx="2011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59" y="3977639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Proteção das páginas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Estrutura do 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74920" cy="434340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5F8"/>
                </a:solidFill>
                <a:latin typeface="Aptos"/>
              </a:defRPr>
            </a:pPr>
            <a:r>
              <a:t>Banco: lista_amigos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57984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6B1BF"/>
                </a:solidFill>
                <a:latin typeface="Aptos"/>
              </a:defRPr>
            </a:pPr>
            <a:r>
              <a:t>Banco utilizado pelo projeto.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5F8"/>
                </a:solidFill>
                <a:latin typeface="Aptos"/>
              </a:defRPr>
            </a:pPr>
            <a:r>
              <a:t>Tabela amigos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6B1BF"/>
                </a:solidFill>
                <a:latin typeface="Aptos"/>
              </a:defRPr>
            </a:pPr>
            <a:r>
              <a:t>id, nome, telefone e email.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4434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2F5F8"/>
                </a:solidFill>
                <a:latin typeface="Aptos"/>
              </a:defRPr>
            </a:pPr>
            <a:r>
              <a:t>Tabela usuario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986784"/>
            <a:ext cx="4434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6B1BF"/>
                </a:solidFill>
                <a:latin typeface="Aptos"/>
              </a:defRPr>
            </a:pPr>
            <a:r>
              <a:t>id, nome e senha para autenticação.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508760"/>
            <a:ext cx="5257800" cy="434340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9BEFF"/>
                </a:solidFill>
                <a:latin typeface="Aptos"/>
              </a:defRPr>
            </a:pPr>
            <a:r>
              <a:t>amigos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514600"/>
            <a:ext cx="4434840" cy="457200"/>
          </a:xfrm>
          <a:prstGeom prst="round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58775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2F5F8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108960"/>
            <a:ext cx="4434840" cy="457200"/>
          </a:xfrm>
          <a:prstGeom prst="round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8211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nome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703320"/>
            <a:ext cx="4434840" cy="457200"/>
          </a:xfrm>
          <a:prstGeom prst="round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7647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telefone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297680"/>
            <a:ext cx="4434840" cy="457200"/>
          </a:xfrm>
          <a:prstGeom prst="round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37083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2F5F8"/>
                </a:solidFill>
                <a:latin typeface="Aptos"/>
              </a:defRPr>
            </a:pPr>
            <a: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16636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id = chave primária • AUTO_INCREMENT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FUNCIONALIDADES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CRUD — as quatro operações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164592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Cadastrar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6771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5BDC9D"/>
                </a:solidFill>
                <a:latin typeface="Aptos"/>
              </a:defRPr>
            </a:pPr>
            <a:r>
              <a:t>INSERT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74920" cy="164592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Listar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26771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5BDC9D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11880"/>
            <a:ext cx="5074920" cy="164592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404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Editar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32511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5BDC9D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11880"/>
            <a:ext cx="5074920" cy="164592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97680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2F5F8"/>
                </a:solidFill>
                <a:latin typeface="Aptos"/>
              </a:defRPr>
            </a:pPr>
            <a:r>
              <a:t>Excluir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4325112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1">
                <a:solidFill>
                  <a:srgbClr val="5BDC9D"/>
                </a:solidFill>
                <a:latin typeface="Aptos"/>
              </a:defRPr>
            </a:pPr>
            <a:r>
              <a:t>DELETE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IMPLEMENTAÇÃO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Como o CRUD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331720" cy="658368"/>
          </a:xfrm>
          <a:prstGeom prst="round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82495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  <a:latin typeface="Aptos"/>
              </a:defRPr>
            </a:pPr>
            <a:r>
              <a:t>cadastro.php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618488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58191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Recebe os dados do formulário e executa INSERT.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32888"/>
            <a:ext cx="2331720" cy="658368"/>
          </a:xfrm>
          <a:prstGeom prst="round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06624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  <a:latin typeface="Aptos"/>
              </a:defRPr>
            </a:pPr>
            <a:r>
              <a:t>listar.php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42616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60604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Consulta os registros com SELECT.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57016"/>
            <a:ext cx="2331720" cy="658368"/>
          </a:xfrm>
          <a:prstGeom prst="round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30752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  <a:latin typeface="Aptos"/>
              </a:defRPr>
            </a:pPr>
            <a:r>
              <a:t>editar.php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666744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630168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Usa o ID para alterar um registro com UPDATE.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81144"/>
            <a:ext cx="2331720" cy="658368"/>
          </a:xfrm>
          <a:prstGeom prst="round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  <a:latin typeface="Aptos"/>
              </a:defRPr>
            </a:pPr>
            <a:r>
              <a:t>excluir.php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690872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654296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Usa o ID para remover um registro com DELETE.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ORGANIZAÇÃO DO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Conexão centralizada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A6B1BF"/>
                </a:solidFill>
                <a:latin typeface="Aptos"/>
              </a:defRPr>
            </a:pPr>
            <a: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2F5F8"/>
                </a:solidFill>
                <a:latin typeface="Aptos"/>
              </a:defRPr>
            </a:pPr>
            <a:r>
              <a:t>A conexão era repetida em vários arquivos.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49BEFF"/>
                </a:solidFill>
                <a:latin typeface="Aptos"/>
              </a:defRPr>
            </a:pPr>
            <a:r>
              <a:t>Depois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2F5F8"/>
                </a:solidFill>
                <a:latin typeface="Aptos"/>
              </a:defRPr>
            </a:pPr>
            <a:r>
              <a:t>conexaoBD.php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4572000" cy="123444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8803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5BDC9D"/>
                </a:solidFill>
                <a:latin typeface="Consolas"/>
              </a:defRPr>
            </a:pPr>
            <a:r>
              <a:t>require_once 'conexaoBD.php';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10058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2F5F8"/>
                </a:solidFill>
                <a:latin typeface="Aptos"/>
              </a:defRPr>
            </a:pPr>
            <a:r>
              <a:t>Um único arquivo concentra a conexão e pode ser reutilizado pelas páginas do projeto.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AUTENTICAÇÃO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Sistema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657600" cy="438912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9BEFF"/>
                </a:solidFill>
                <a:latin typeface="Aptos"/>
              </a:defRPr>
            </a:pPr>
            <a:r>
              <a:t>index.php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5F8"/>
                </a:solidFill>
                <a:latin typeface="Aptos"/>
              </a:defRPr>
            </a:pPr>
            <a:r>
              <a:t>Formulário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4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Nome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474720"/>
            <a:ext cx="2880360" cy="411480"/>
          </a:xfrm>
          <a:prstGeom prst="round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6616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2F5F8"/>
                </a:solidFill>
                <a:latin typeface="Aptos"/>
              </a:defRPr>
            </a:pPr>
            <a:r>
              <a:t>gabi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05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Senha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480560"/>
            <a:ext cx="2880360" cy="411480"/>
          </a:xfrm>
          <a:prstGeom prst="round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57200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2F5F8"/>
                </a:solidFill>
                <a:latin typeface="Aptos"/>
              </a:defRPr>
            </a:pPr>
            <a:r>
              <a:t>••••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2148840"/>
            <a:ext cx="2194560" cy="731520"/>
          </a:xfrm>
          <a:prstGeom prst="round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350008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D1117"/>
                </a:solidFill>
                <a:latin typeface="Aptos"/>
              </a:defRPr>
            </a:pPr>
            <a:r>
              <a:t>loginAction.php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267712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508760"/>
            <a:ext cx="3383280" cy="438912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8288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F2F5F8"/>
                </a:solidFill>
                <a:latin typeface="Aptos"/>
              </a:defRPr>
            </a:pPr>
            <a:r>
              <a:t>Tabela usuario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6517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BDC9D"/>
                </a:solidFill>
                <a:latin typeface="Aptos"/>
              </a:defRPr>
            </a:pPr>
            <a:r>
              <a:t>gabi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246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A6B1BF"/>
                </a:solidFill>
                <a:latin typeface="Aptos"/>
              </a:defRPr>
            </a:pPr>
            <a:r>
              <a:t>senha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24612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BDC9D"/>
                </a:solidFill>
                <a:latin typeface="Aptos"/>
              </a:defRPr>
            </a:pPr>
            <a:r>
              <a:t>1234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069080"/>
            <a:ext cx="2651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Se os dados forem válidos,</a:t>
            </a:r>
            <a:br/>
            <a:r>
              <a:t>o login é aceito.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SEGURANÇA DO FLUXO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Session e proteção de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29200" cy="443484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49BEFF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1BF"/>
                </a:solidFill>
                <a:latin typeface="Aptos"/>
              </a:defRPr>
            </a:pPr>
            <a:r>
              <a:t>Depois do login: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389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5BDC9D"/>
                </a:solidFill>
                <a:latin typeface="Consolas"/>
              </a:defRPr>
            </a:pPr>
            <a:r>
              <a:t>$_SESSION['logado'] = $nome;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60520"/>
            <a:ext cx="4023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2F5F8"/>
                </a:solidFill>
                <a:latin typeface="Aptos"/>
              </a:defRPr>
            </a:pPr>
            <a:r>
              <a:t>A sessão mantém a informação de que o usuário está autenticado.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5212080" cy="443484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9BEFF"/>
                </a:solidFill>
                <a:latin typeface="Aptos"/>
              </a:defRPr>
            </a:pPr>
            <a:r>
              <a:t>verificarAcesso.php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1BF"/>
                </a:solidFill>
                <a:latin typeface="Aptos"/>
              </a:defRPr>
            </a:pPr>
            <a:r>
              <a:t>Se não existir uma sessão válida: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3756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2F5F8"/>
                </a:solidFill>
                <a:latin typeface="Aptos"/>
              </a:defRPr>
            </a:pPr>
            <a:r>
              <a:t>→ redireciona para o 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114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2F5F8"/>
                </a:solidFill>
                <a:latin typeface="Aptos"/>
              </a:defRPr>
            </a:pPr>
            <a:r>
              <a:t>As páginas do CRUD ficam protegidas contra acesso direto pela URL.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FLUXO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Logout e teste do acesso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240280" cy="109728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2F5F8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0672" y="21214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240280" cy="109728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29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423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2F5F8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21214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28800"/>
            <a:ext cx="2240280" cy="109728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29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23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2F5F8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8512" y="212140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9BE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28800"/>
            <a:ext cx="2240280" cy="109728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02996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9BE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423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2F5F8"/>
                </a:solidFill>
                <a:latin typeface="Aptos"/>
              </a:defRPr>
            </a:pPr>
            <a:r>
              <a:t>Logout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947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5BDC9D"/>
                </a:solidFill>
                <a:latin typeface="Aptos"/>
              </a:defRPr>
            </a:pPr>
            <a:r>
              <a:t>Teste realizado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9768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2F5F8"/>
                </a:solidFill>
                <a:latin typeface="Aptos"/>
              </a:defRPr>
            </a:pPr>
            <a:r>
              <a:t>Após o logout, o acesso direto a listar.php redireciona novamente para o login.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APRENDIZADO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Habilidades adquiridas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91639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PHP e integração com MySQL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2821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91639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SQL: INSERT, SELECT, UPDATE e DELETE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79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43200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Formulários e envio de dados com POST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60320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7977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743200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Parâmetros pela URL com GET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79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31335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794759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Organização de código com require_once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11879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31335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794759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Autenticação, Session e controle de acesso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663440"/>
            <a:ext cx="5074920" cy="804672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882896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DC9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46320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2F5F8"/>
                </a:solidFill>
                <a:latin typeface="Aptos"/>
              </a:defRPr>
            </a:pPr>
            <a:r>
              <a:t>Testes e validação do funcionamento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9BEFF"/>
          </a:solidFill>
          <a:ln>
            <a:solidFill>
              <a:srgbClr val="49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49BEFF"/>
                </a:solidFill>
                <a:latin typeface="Aptos"/>
              </a:defRPr>
            </a:pPr>
            <a:r>
              <a:t>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5895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2F5F8"/>
                </a:solidFill>
                <a:latin typeface="Aptos"/>
              </a:defRPr>
            </a:pPr>
            <a: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A6B1B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2F5F8"/>
                </a:solidFill>
                <a:latin typeface="Aptos"/>
              </a:defRPr>
            </a:pPr>
            <a:r>
              <a:t>O projeto reúne os principais conceitos trabalhados na Aula 08 em uma aplicação funcional.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561320" cy="1371600"/>
          </a:xfrm>
          <a:prstGeom prst="roundRect">
            <a:avLst/>
          </a:prstGeom>
          <a:solidFill>
            <a:srgbClr val="161C26"/>
          </a:solidFill>
          <a:ln>
            <a:solidFill>
              <a:srgbClr val="16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1546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9BEFF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1546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9BE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1546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9BEFF"/>
                </a:solidFill>
                <a:latin typeface="Aptos"/>
              </a:defRPr>
            </a:pPr>
            <a:r>
              <a:t>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31546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49BE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0916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A6B1BF"/>
                </a:solidFill>
                <a:latin typeface="Aptos"/>
              </a:defRPr>
            </a:pPr>
            <a:r>
              <a:t>O sistema foi testado: cadastro, listagem, edição, exclusão, login, proteção de acesso e logout.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